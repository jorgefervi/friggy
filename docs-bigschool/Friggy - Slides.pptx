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z8ZDzVSJ9RqXmOrZkJdUOGuON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Abrir con el problema cotidiano: decidir qué cocinar sin perder de vista lo que ya hay en casa.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Friggy integra el recorrido desde la receta hasta la compra.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img/Inicio.png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Presentar las cuatro capacidades como un sistema, no como módulos aislados.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conversión controlada evita comparar cantidades incompatibles.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docs/product/current-capabilities.md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Usar esta diapositiva como agenda verbal.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El objetivo es que el público entienda el ciclo completo antes de ver pantallas.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README.md#primeros-pasos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docs/user-guide/first-steps.md</a:t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Señalar el resumen de hoy, las acciones rápidas y las recetas disponibles.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navegación lateral agrupa planificación, inventario y catálogos.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img/Inicio.png</a:t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Mostrar los filtros por ingrediente y clasificación.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Desde cada tarjeta se puede consultar, editar o borrar; la creación queda accesible arriba.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docs/product/current-capabilities.md#recetas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img/Recetas.png</a:t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Comenzar por la consulta del intervalo y abrir el domingo como ejemplo.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Señalar las acciones de completar y omitir, además del cálculo de preparación.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docs/product/current-capabilities.md#planificación-diaria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img/Planes diarios.png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img/Planes diarios - Domingo.png</a:t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Crear una plantilla con comidas, recetas, raciones y horarios.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Después se seleccionan fechas libres; la aplicación evita sobrescribir planes existentes.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docs/user-guide/daily-plan-templates.md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img/Plantillas.png</a:t>
            </a:r>
            <a:endParaRPr/>
          </a:p>
        </p:txBody>
      </p:sp>
      <p:sp>
        <p:nvSpPr>
          <p:cNvPr id="117" name="Google Shape;11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Registrar el ingrediente, la unidad, la cantidad y la caducidad.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Los lotes agotados o caducados se pueden incluir mediante el filtro correspondiente.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docs/product/current-capabilities.md#inventario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img/Inventario.png</a:t>
            </a:r>
            <a:endParaRPr/>
          </a:p>
        </p:txBody>
      </p:sp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Seleccionar el intervalo y calcular la comparación.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tabla descuenta el inventario utilizable y expresa la cantidad pendiente en unidades de compra.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docs/user-guide/shopping-list.md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img/Lista de la compra.png</a:t>
            </a:r>
            <a:endParaRPr/>
          </a:p>
        </p:txBody>
      </p:sp>
      <p:sp>
        <p:nvSpPr>
          <p:cNvPr id="137" name="Google Shape;13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Los dos catálogos permiten crear, editar y borrar cuando no hay referencias que lo impidan.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Las dimensiones y factores permiten comparar masa, volumen y conteo.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docs/product/current-capabilities.md#catálogos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img/Ingredientes.png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img/Tipos de unidad.png</a:t>
            </a:r>
            <a:endParaRPr/>
          </a:p>
        </p:txBody>
      </p:sp>
      <p:sp>
        <p:nvSpPr>
          <p:cNvPr id="147" name="Google Shape;14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Mostrar que ambos catálogos son configurables desde la interfaz.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Las clasificaciones alimentan la búsqueda de recetas y la planificación diaria.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docs/product/current-capabilities.md#catálogos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img/Etiquetas y clasificaciones.png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img/Tipos de comida y clasificaciones.png</a:t>
            </a:r>
            <a:endParaRPr/>
          </a:p>
        </p:txBody>
      </p:sp>
      <p:sp>
        <p:nvSpPr>
          <p:cNvPr id="163" name="Google Shape;16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3E5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1428128"/>
            <a:ext cx="6762750" cy="3220693"/>
          </a:xfrm>
          <a:prstGeom prst="roundRect">
            <a:avLst>
              <a:gd fmla="val 2834" name="adj"/>
            </a:avLst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514350" y="1676400"/>
            <a:ext cx="4000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Friggy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14350" y="2609850"/>
            <a:ext cx="40005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 cocina, en orden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14350" y="3657600"/>
            <a:ext cx="3905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DCE8ED"/>
                </a:solidFill>
              </a:rPr>
              <a:t>Recetas, planificación de comidas, inventario y compra conectados en una sola aplicación.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14350" y="5372100"/>
            <a:ext cx="1809750" cy="342900"/>
          </a:xfrm>
          <a:prstGeom prst="roundRect">
            <a:avLst>
              <a:gd fmla="val 50000" name="adj"/>
            </a:avLst>
          </a:prstGeom>
          <a:solidFill>
            <a:srgbClr val="2C5B71"/>
          </a:solidFill>
          <a:ln cap="flat" cmpd="sng" w="9525">
            <a:solidFill>
              <a:srgbClr val="2C5B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09600" y="544830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Aplicación web local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9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56A3D"/>
                </a:solidFill>
                <a:latin typeface="Arial"/>
                <a:ea typeface="Arial"/>
                <a:cs typeface="Arial"/>
                <a:sym typeface="Arial"/>
              </a:rPr>
              <a:t>LA PROPUESTA</a:t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57200" y="552450"/>
            <a:ext cx="108108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Una única fuente de verdad para la cocina</a:t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1334750" y="32385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C9D5DB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57200" y="1428750"/>
            <a:ext cx="9334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Friggy reduce la fricción entre cuatro decisiones que normalmente viven separadas.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57200" y="2190750"/>
            <a:ext cx="2571750" cy="2857500"/>
          </a:xfrm>
          <a:prstGeom prst="roundRect">
            <a:avLst>
              <a:gd fmla="val 5926" name="adj"/>
            </a:avLst>
          </a:prstGeom>
          <a:solidFill>
            <a:srgbClr val="173E52"/>
          </a:solidFill>
          <a:ln cap="flat" cmpd="sng" w="9525">
            <a:solidFill>
              <a:srgbClr val="173E5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85800" y="2400300"/>
            <a:ext cx="762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8B29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85800" y="3067050"/>
            <a:ext cx="2095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Recetas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85800" y="3905250"/>
            <a:ext cx="2095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DCE8ED"/>
                </a:solidFill>
                <a:latin typeface="Arial"/>
                <a:ea typeface="Arial"/>
                <a:cs typeface="Arial"/>
                <a:sym typeface="Arial"/>
              </a:rPr>
              <a:t>Ingredientes, cantidades, pasos y clasificaciones.</a:t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276600" y="2190750"/>
            <a:ext cx="2571750" cy="2857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505200" y="2400300"/>
            <a:ext cx="762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56A3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505200" y="3067050"/>
            <a:ext cx="2095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Planes diarios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505200" y="3905250"/>
            <a:ext cx="2095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Qué se cocina, cuándo y para cuántas personas.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096000" y="2190750"/>
            <a:ext cx="2571750" cy="2857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324600" y="2400300"/>
            <a:ext cx="762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56A3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324600" y="3067050"/>
            <a:ext cx="2095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Inventario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324600" y="3905250"/>
            <a:ext cx="2095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Lotes, caducidad</a:t>
            </a:r>
            <a:r>
              <a:rPr lang="en-US" sz="1425">
                <a:solidFill>
                  <a:srgbClr val="546976"/>
                </a:solidFill>
              </a:rPr>
              <a:t> </a:t>
            </a:r>
            <a:r>
              <a:rPr b="0" lang="en-US" sz="14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y disponibilidad.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915400" y="2190750"/>
            <a:ext cx="2571750" cy="2857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9144000" y="2400300"/>
            <a:ext cx="762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56A3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9144000" y="3067050"/>
            <a:ext cx="2095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Lista de compra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9144000" y="3905250"/>
            <a:ext cx="2095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546976"/>
                </a:solidFill>
              </a:rPr>
              <a:t>Saber que necesitamos teniendo en cuenta lo que tenemos en el </a:t>
            </a:r>
            <a:r>
              <a:rPr lang="en-US" sz="1425">
                <a:solidFill>
                  <a:srgbClr val="546976"/>
                </a:solidFill>
              </a:rPr>
              <a:t>frigorífico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9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457200" y="2857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56A3D"/>
                </a:solidFill>
                <a:latin typeface="Arial"/>
                <a:ea typeface="Arial"/>
                <a:cs typeface="Arial"/>
                <a:sym typeface="Arial"/>
              </a:rPr>
              <a:t>EL RECORRIDO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57200" y="552450"/>
            <a:ext cx="108108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De una receta a una compra accionable</a:t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1334750" y="32385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C9D5DB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1143000" y="2971800"/>
            <a:ext cx="9620250" cy="38100"/>
          </a:xfrm>
          <a:prstGeom prst="rect">
            <a:avLst/>
          </a:prstGeom>
          <a:solidFill>
            <a:srgbClr val="C9D5DB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42950" y="2476500"/>
            <a:ext cx="990600" cy="990600"/>
          </a:xfrm>
          <a:prstGeom prst="ellipse">
            <a:avLst/>
          </a:prstGeom>
          <a:solidFill>
            <a:srgbClr val="173E52"/>
          </a:solidFill>
          <a:ln cap="flat" cmpd="sng" w="9525">
            <a:solidFill>
              <a:srgbClr val="173E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42950" y="2667000"/>
            <a:ext cx="990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00050" y="3752850"/>
            <a:ext cx="1676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Define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266700" y="4248150"/>
            <a:ext cx="1943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75">
                <a:solidFill>
                  <a:srgbClr val="546976"/>
                </a:solidFill>
              </a:rPr>
              <a:t>Crea recetas, ingredientes, tipos de comida, clasificaciones, e inventario doméstico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solidFill>
                <a:srgbClr val="546976"/>
              </a:solidFill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990850" y="2476500"/>
            <a:ext cx="990600" cy="990600"/>
          </a:xfrm>
          <a:prstGeom prst="ellipse">
            <a:avLst/>
          </a:prstGeom>
          <a:solidFill>
            <a:srgbClr val="173E52"/>
          </a:solidFill>
          <a:ln cap="flat" cmpd="sng" w="9525">
            <a:solidFill>
              <a:srgbClr val="173E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2990850" y="2667000"/>
            <a:ext cx="990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2647950" y="3752850"/>
            <a:ext cx="1676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Planifica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2514600" y="4248150"/>
            <a:ext cx="1943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546976"/>
                </a:solidFill>
              </a:rPr>
              <a:t>Planifica las comidas del día o la semana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solidFill>
                <a:srgbClr val="546976"/>
              </a:solidFill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238750" y="2476500"/>
            <a:ext cx="990600" cy="990600"/>
          </a:xfrm>
          <a:prstGeom prst="ellipse">
            <a:avLst/>
          </a:prstGeom>
          <a:solidFill>
            <a:srgbClr val="173E52"/>
          </a:solidFill>
          <a:ln cap="flat" cmpd="sng" w="9525">
            <a:solidFill>
              <a:srgbClr val="173E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5238750" y="2667000"/>
            <a:ext cx="990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895850" y="3752850"/>
            <a:ext cx="1676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Comprueba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762500" y="4248150"/>
            <a:ext cx="1943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75">
                <a:solidFill>
                  <a:srgbClr val="546976"/>
                </a:solidFill>
              </a:rPr>
              <a:t>Échale un ojo a los ingredientes que te hace falta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486650" y="2476500"/>
            <a:ext cx="990600" cy="990600"/>
          </a:xfrm>
          <a:prstGeom prst="ellipse">
            <a:avLst/>
          </a:prstGeom>
          <a:solidFill>
            <a:srgbClr val="173E52"/>
          </a:solidFill>
          <a:ln cap="flat" cmpd="sng" w="9525">
            <a:solidFill>
              <a:srgbClr val="173E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7486650" y="2667000"/>
            <a:ext cx="990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7143750" y="3752850"/>
            <a:ext cx="1676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Consume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010400" y="4248150"/>
            <a:ext cx="1943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75">
                <a:solidFill>
                  <a:srgbClr val="546976"/>
                </a:solidFill>
              </a:rPr>
              <a:t>Descuenta ingredientes y ten siempre al día el frigorífico de tu casa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9734550" y="2476500"/>
            <a:ext cx="990600" cy="990600"/>
          </a:xfrm>
          <a:prstGeom prst="ellipse">
            <a:avLst/>
          </a:prstGeom>
          <a:solidFill>
            <a:srgbClr val="B56A3D"/>
          </a:solidFill>
          <a:ln cap="flat" cmpd="sng" w="9525">
            <a:solidFill>
              <a:srgbClr val="B56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34550" y="2667000"/>
            <a:ext cx="990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9391650" y="3752850"/>
            <a:ext cx="1676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Compra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9258300" y="4248150"/>
            <a:ext cx="1943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Obtén lo que falta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9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457200" y="552450"/>
            <a:ext cx="108108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Inicio: el estado del día de un vistazo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11334750" y="32385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C9D5DB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00050" y="1352550"/>
            <a:ext cx="11391900" cy="5391150"/>
          </a:xfrm>
          <a:prstGeom prst="roundRect">
            <a:avLst>
              <a:gd fmla="val 2120" name="adj"/>
            </a:avLst>
          </a:prstGeom>
          <a:solidFill>
            <a:srgbClr val="FFFFFF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886" y="1409700"/>
            <a:ext cx="11080228" cy="5276850"/>
          </a:xfrm>
          <a:prstGeom prst="roundRect">
            <a:avLst>
              <a:gd fmla="val 14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9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457200" y="552450"/>
            <a:ext cx="108108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Recetas:</a:t>
            </a:r>
            <a:r>
              <a:rPr b="1" lang="en-US" sz="3150">
                <a:solidFill>
                  <a:srgbClr val="102A3A"/>
                </a:solidFill>
              </a:rPr>
              <a:t> crear, </a:t>
            </a:r>
            <a:r>
              <a:rPr b="1" lang="en-US" sz="3150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buscar</a:t>
            </a:r>
            <a:r>
              <a:rPr b="1" lang="en-US" sz="3150">
                <a:solidFill>
                  <a:srgbClr val="102A3A"/>
                </a:solidFill>
              </a:rPr>
              <a:t> y</a:t>
            </a:r>
            <a:r>
              <a:rPr b="1" lang="en-US" sz="3150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 ordenar</a:t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11334750" y="32385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C9D5DB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400050" y="1352550"/>
            <a:ext cx="11391900" cy="5391150"/>
          </a:xfrm>
          <a:prstGeom prst="roundRect">
            <a:avLst>
              <a:gd fmla="val 2120" name="adj"/>
            </a:avLst>
          </a:prstGeom>
          <a:solidFill>
            <a:srgbClr val="FFFFFF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909" y="1409700"/>
            <a:ext cx="11098183" cy="5276850"/>
          </a:xfrm>
          <a:prstGeom prst="roundRect">
            <a:avLst>
              <a:gd fmla="val 14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9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457200" y="552450"/>
            <a:ext cx="108108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Planificar un intervalo y entrar en cada día</a:t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11334750" y="32385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C9D5DB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400050" y="1504950"/>
            <a:ext cx="5543550" cy="270510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725" y="1562100"/>
            <a:ext cx="5410200" cy="2590800"/>
          </a:xfrm>
          <a:prstGeom prst="roundRect">
            <a:avLst>
              <a:gd fmla="val 2941" name="adj"/>
            </a:avLst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457200" y="4238625"/>
            <a:ext cx="542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Vista del intervalo</a:t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6248400" y="1504950"/>
            <a:ext cx="5543550" cy="270510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5550" y="1565967"/>
            <a:ext cx="5429250" cy="2583067"/>
          </a:xfrm>
          <a:prstGeom prst="roundRect">
            <a:avLst>
              <a:gd fmla="val 2941" name="adj"/>
            </a:avLst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6305550" y="4238625"/>
            <a:ext cx="542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Detalle de una fecha</a:t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85800" y="4781550"/>
            <a:ext cx="49720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El intervalo muestra qué días están libres o configurados y permite crear o eliminar cada plan.</a:t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534150" y="4781550"/>
            <a:ext cx="49720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El detalle reúne receta, raciones, hora prevista, preparación, omisión y finalización de cada comida.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9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457200" y="552450"/>
            <a:ext cx="108108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Plantillas: reutilizar planes habituales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1334750" y="32385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C9D5DB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00050" y="1352550"/>
            <a:ext cx="11391900" cy="5391150"/>
          </a:xfrm>
          <a:prstGeom prst="roundRect">
            <a:avLst>
              <a:gd fmla="val 2120" name="adj"/>
            </a:avLst>
          </a:prstGeom>
          <a:solidFill>
            <a:srgbClr val="FFFFFF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963" y="1409700"/>
            <a:ext cx="10956074" cy="5276850"/>
          </a:xfrm>
          <a:prstGeom prst="roundRect">
            <a:avLst>
              <a:gd fmla="val 14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9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457200" y="552450"/>
            <a:ext cx="108108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Inventario: </a:t>
            </a:r>
            <a:r>
              <a:rPr b="1" lang="en-US" sz="3150">
                <a:solidFill>
                  <a:srgbClr val="102A3A"/>
                </a:solidFill>
              </a:rPr>
              <a:t>indica los ingredientes que tenemos</a:t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11334750" y="32385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C9D5DB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400050" y="1352550"/>
            <a:ext cx="11391900" cy="5391150"/>
          </a:xfrm>
          <a:prstGeom prst="roundRect">
            <a:avLst>
              <a:gd fmla="val 2120" name="adj"/>
            </a:avLst>
          </a:prstGeom>
          <a:solidFill>
            <a:srgbClr val="FFFFFF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182" y="1409700"/>
            <a:ext cx="10955636" cy="5276850"/>
          </a:xfrm>
          <a:prstGeom prst="roundRect">
            <a:avLst>
              <a:gd fmla="val 14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9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/>
          <p:nvPr/>
        </p:nvSpPr>
        <p:spPr>
          <a:xfrm>
            <a:off x="457200" y="552450"/>
            <a:ext cx="108108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La lista de la compra muestra lo que nos falta</a:t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11334750" y="32385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C9D5DB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400050" y="1352550"/>
            <a:ext cx="11391900" cy="5391150"/>
          </a:xfrm>
          <a:prstGeom prst="roundRect">
            <a:avLst>
              <a:gd fmla="val 2120" name="adj"/>
            </a:avLst>
          </a:prstGeom>
          <a:solidFill>
            <a:srgbClr val="FFFFFF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817" y="1409700"/>
            <a:ext cx="11032365" cy="5276850"/>
          </a:xfrm>
          <a:prstGeom prst="roundRect">
            <a:avLst>
              <a:gd fmla="val 14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9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/>
          <p:nvPr/>
        </p:nvSpPr>
        <p:spPr>
          <a:xfrm>
            <a:off x="457200" y="552450"/>
            <a:ext cx="108108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Ingredientes y unidades </a:t>
            </a:r>
            <a:r>
              <a:rPr b="1" lang="en-US" sz="3150">
                <a:solidFill>
                  <a:srgbClr val="102A3A"/>
                </a:solidFill>
              </a:rPr>
              <a:t>para calcular necesidades</a:t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11334750" y="32385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C9D5DB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400050" y="1504950"/>
            <a:ext cx="5543550" cy="270510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061" y="1562100"/>
            <a:ext cx="5413528" cy="2590800"/>
          </a:xfrm>
          <a:prstGeom prst="roundRect">
            <a:avLst>
              <a:gd fmla="val 2941" name="adj"/>
            </a:avLst>
          </a:prstGeom>
          <a:noFill/>
          <a:ln>
            <a:noFill/>
          </a:ln>
        </p:spPr>
      </p:pic>
      <p:sp>
        <p:nvSpPr>
          <p:cNvPr id="154" name="Google Shape;154;p10"/>
          <p:cNvSpPr/>
          <p:nvPr/>
        </p:nvSpPr>
        <p:spPr>
          <a:xfrm>
            <a:off x="457200" y="4238625"/>
            <a:ext cx="542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Ingredientes</a:t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6248400" y="1504950"/>
            <a:ext cx="5543550" cy="270510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5550" y="1563401"/>
            <a:ext cx="5429250" cy="2588198"/>
          </a:xfrm>
          <a:prstGeom prst="roundRect">
            <a:avLst>
              <a:gd fmla="val 2941" name="adj"/>
            </a:avLst>
          </a:prstGeom>
          <a:noFill/>
          <a:ln>
            <a:noFill/>
          </a:ln>
        </p:spPr>
      </p:pic>
      <p:sp>
        <p:nvSpPr>
          <p:cNvPr id="157" name="Google Shape;157;p10"/>
          <p:cNvSpPr/>
          <p:nvPr/>
        </p:nvSpPr>
        <p:spPr>
          <a:xfrm>
            <a:off x="6305550" y="4238625"/>
            <a:ext cx="542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Tipos de unidad</a:t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685800" y="4781550"/>
            <a:ext cx="49720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Los ingredientes se crean una vez y se reutilizan en recetas, inventario y comparaciones.</a:t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6534150" y="4781550"/>
            <a:ext cx="49720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Cada unidad define dimensión, factor de conversión y si sirve para cocina, compra o ambos usos.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9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457200" y="552450"/>
            <a:ext cx="108108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Etiquetas y tipos de comida  para organiza</a:t>
            </a:r>
            <a:r>
              <a:rPr b="1" lang="en-US" sz="3150">
                <a:solidFill>
                  <a:srgbClr val="102A3A"/>
                </a:solidFill>
              </a:rPr>
              <a:t>r</a:t>
            </a:r>
            <a:r>
              <a:rPr b="1" lang="en-US" sz="3150">
                <a:solidFill>
                  <a:srgbClr val="102A3A"/>
                </a:solidFill>
                <a:latin typeface="Arial"/>
                <a:ea typeface="Arial"/>
                <a:cs typeface="Arial"/>
                <a:sym typeface="Arial"/>
              </a:rPr>
              <a:t> las recetas</a:t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11334750" y="32385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C9D5DB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"/>
          <p:cNvSpPr/>
          <p:nvPr/>
        </p:nvSpPr>
        <p:spPr>
          <a:xfrm>
            <a:off x="400050" y="1504950"/>
            <a:ext cx="5543550" cy="270510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63944"/>
            <a:ext cx="5429250" cy="2587111"/>
          </a:xfrm>
          <a:prstGeom prst="roundRect">
            <a:avLst>
              <a:gd fmla="val 2941" name="adj"/>
            </a:avLst>
          </a:prstGeom>
          <a:noFill/>
          <a:ln>
            <a:noFill/>
          </a:ln>
        </p:spPr>
      </p:pic>
      <p:sp>
        <p:nvSpPr>
          <p:cNvPr id="170" name="Google Shape;170;p11"/>
          <p:cNvSpPr/>
          <p:nvPr/>
        </p:nvSpPr>
        <p:spPr>
          <a:xfrm>
            <a:off x="457200" y="4238625"/>
            <a:ext cx="542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Etiquetas de receta</a:t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6248400" y="1504950"/>
            <a:ext cx="5543550" cy="2705100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9525">
            <a:solidFill>
              <a:srgbClr val="C9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5550" y="1563203"/>
            <a:ext cx="5429250" cy="2588594"/>
          </a:xfrm>
          <a:prstGeom prst="roundRect">
            <a:avLst>
              <a:gd fmla="val 2941" name="adj"/>
            </a:avLst>
          </a:prstGeom>
          <a:noFill/>
          <a:ln>
            <a:noFill/>
          </a:ln>
        </p:spPr>
      </p:pic>
      <p:sp>
        <p:nvSpPr>
          <p:cNvPr id="173" name="Google Shape;173;p11"/>
          <p:cNvSpPr/>
          <p:nvPr/>
        </p:nvSpPr>
        <p:spPr>
          <a:xfrm>
            <a:off x="6305550" y="4238625"/>
            <a:ext cx="542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Tipos de comida</a:t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685800" y="4781550"/>
            <a:ext cx="49720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Las etiquetas permiten buscar recetas por propiedades como rápida, vegana o alta en proteína.</a:t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6534150" y="4781550"/>
            <a:ext cx="49720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546976"/>
                </a:solidFill>
                <a:latin typeface="Arial"/>
                <a:ea typeface="Arial"/>
                <a:cs typeface="Arial"/>
                <a:sym typeface="Arial"/>
              </a:rPr>
              <a:t>Los tipos de comida ordenan los huecos diarios y clasifican las recetas recomendadas.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Friggy Demo">
      <a:dk1>
        <a:srgbClr val="000000"/>
      </a:dk1>
      <a:lt1>
        <a:srgbClr val="FFFFFF"/>
      </a:lt1>
      <a:dk2>
        <a:srgbClr val="173E52"/>
      </a:dk2>
      <a:lt2>
        <a:srgbClr val="EAF1F4"/>
      </a:lt2>
      <a:accent1>
        <a:srgbClr val="24566F"/>
      </a:accent1>
      <a:accent2>
        <a:srgbClr val="B56A3D"/>
      </a:accent2>
      <a:accent3>
        <a:srgbClr val="3B7A57"/>
      </a:accent3>
      <a:accent4>
        <a:srgbClr val="B94747"/>
      </a:accent4>
      <a:accent5>
        <a:srgbClr val="6B5CA5"/>
      </a:accent5>
      <a:accent6>
        <a:srgbClr val="2B8790"/>
      </a:accent6>
      <a:hlink>
        <a:srgbClr val="24566F"/>
      </a:hlink>
      <a:folHlink>
        <a:srgbClr val="B56A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Friggy Demo">
      <a:dk1>
        <a:srgbClr val="000000"/>
      </a:dk1>
      <a:lt1>
        <a:srgbClr val="FFFFFF"/>
      </a:lt1>
      <a:dk2>
        <a:srgbClr val="173E52"/>
      </a:dk2>
      <a:lt2>
        <a:srgbClr val="EAF1F4"/>
      </a:lt2>
      <a:accent1>
        <a:srgbClr val="24566F"/>
      </a:accent1>
      <a:accent2>
        <a:srgbClr val="B56A3D"/>
      </a:accent2>
      <a:accent3>
        <a:srgbClr val="3B7A57"/>
      </a:accent3>
      <a:accent4>
        <a:srgbClr val="B94747"/>
      </a:accent4>
      <a:accent5>
        <a:srgbClr val="6B5CA5"/>
      </a:accent5>
      <a:accent6>
        <a:srgbClr val="2B8790"/>
      </a:accent6>
      <a:hlink>
        <a:srgbClr val="24566F"/>
      </a:hlink>
      <a:folHlink>
        <a:srgbClr val="B56A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